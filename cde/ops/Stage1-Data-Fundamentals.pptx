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  <Relationship Id="rId8" Type="http://schemas.openxmlformats.org/officeDocument/2006/relationships/slide" Target="slides/slide3.xml"/>
  <Relationship Id="rId9" Type="http://schemas.openxmlformats.org/officeDocument/2006/relationships/slide" Target="slides/slide4.xml"/>
  <Relationship Id="rId10" Type="http://schemas.openxmlformats.org/officeDocument/2006/relationships/slide" Target="slides/slide5.xml"/>
  <Relationship Id="rId11" Type="http://schemas.openxmlformats.org/officeDocument/2006/relationships/slide" Target="slides/slide6.xml"/>
  <Relationship Id="rId12" Type="http://schemas.openxmlformats.org/officeDocument/2006/relationships/slide" Target="slides/slide7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3765-2708-879A-B6DF-AEAA41148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6F65FC-8078-6530-A7A3-CBC37B5EB1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08CC9-E296-666A-183C-F054B905B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AC69-528B-4B2C-9936-A0200406B49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68209-28D0-98A2-CD1A-66A17C63B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28EDE-BDC9-5E4F-323C-D0838960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95009-F63C-4123-BA70-CDB8C2436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17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3DBE0-32AC-5C09-F927-E42CBADE2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78855-A558-5E51-7E94-70EDA53EB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4D194-D8FD-97D6-F6FF-B957F9D4B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AC69-528B-4B2C-9936-A0200406B49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2685B-833A-38D1-ADBD-2D45A98FA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D20D3-4539-275F-35C3-7EFC6F26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95009-F63C-4123-BA70-CDB8C2436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8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4F70F-8DAF-06F0-14C4-9BCD44E2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5B543-D2FE-0E6D-0A53-A1D1EE6471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38F58-EDB5-2059-C1B9-83182BB73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AC69-528B-4B2C-9936-A0200406B49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01095-22DD-55F8-B82B-3F2E6ECF4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9355A-D289-0C84-4D6A-717DBCD70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95009-F63C-4123-BA70-CDB8C2436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20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5226A-D15A-D9C8-2237-DA150598D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6A17A-96CD-099C-7A0C-C65149D206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193B3D-DD42-E71B-28E4-2CB99718C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1C8C6-667F-6A34-B8E3-2E385864A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AC69-528B-4B2C-9936-A0200406B49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B1D60-770E-4F57-202E-B9D2D4BA6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1790B-A70E-99E7-BEFA-40C827245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95009-F63C-4123-BA70-CDB8C2436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07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0F9AA-BCEA-008E-89F2-FC983EF8E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B5F6-3BA1-28D0-9614-235E6D21E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B60B9-3E0B-AB5D-C282-32BE57412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6A3AEF-2B2D-A579-0B2F-B83A3620F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35002D-AAE4-DC27-0B2C-A11C05D7A5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FBF12E-2C5E-4092-D6EC-CF5F6DB4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AC69-528B-4B2C-9936-A0200406B49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D49BCB-B11C-5B52-8FDE-DEEB851DC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5DBEF3-9897-B522-E8DB-6DB93B8E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95009-F63C-4123-BA70-CDB8C2436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1B6BF-D21A-F6E3-0DB3-FBDBC39A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37171C-060E-2B1A-DABE-2E6213736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AC69-528B-4B2C-9936-A0200406B49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724AB6-27D5-EA49-4E94-F502F5E4C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68AFE1-D32D-4DDE-61AC-2C993C3E7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95009-F63C-4123-BA70-CDB8C2436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46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898038-2EA9-C439-8E23-0B996E617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AC69-528B-4B2C-9936-A0200406B49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AF4360-5CFE-0346-FD4B-7CC245CB3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8A3F4D-057F-4BF1-A325-64A645472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95009-F63C-4123-BA70-CDB8C2436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614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CC8CD-E951-8F61-0765-8037A94E1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22DBC-CBCD-F186-6246-7FE0A2698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3C82D0-14B6-8C0C-4221-15045FFA1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E172C-53C4-61F5-9405-C470AC4FA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AC69-528B-4B2C-9936-A0200406B49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F9002-6744-D9C7-7CD3-160050811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B5198-7FA1-3F83-2DD8-0A89C2F1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95009-F63C-4123-BA70-CDB8C2436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295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71E56-5EE5-7114-7CE7-0E4701A68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26E41C-8831-9048-5118-B871068E4C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57A715-0F3F-4946-80C3-5EE6FC811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15E29-57FD-007E-CEE3-B3B03C46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AC69-528B-4B2C-9936-A0200406B49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DE0B21-7A46-D6DF-90C0-E8EEEB2A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047E9-6D3E-69A1-9C80-E60EC53C0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95009-F63C-4123-BA70-CDB8C2436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11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9DAE-F3E9-6B18-FCFB-AEE5DE487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7809E-6A13-B1E3-E24A-C6E6DCD10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29594-639A-6517-30DA-6A0CC6D0F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AC69-528B-4B2C-9936-A0200406B49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DE2E2-F777-55C4-4F7A-6F99FCDE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E27DB-2390-D65C-B2A6-AB6A72651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95009-F63C-4123-BA70-CDB8C2436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944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94A7E5-9493-B6F6-A841-CBD451EDB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CBD130-8EE7-D88A-F103-2C6B161161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54DE9-E1BF-1286-D95B-7FB5C6FFC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FAC69-528B-4B2C-9936-A0200406B49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FD4F1-1420-7BDB-43B6-2F0954F48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E6455-550E-2D34-C305-F268A73B4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95009-F63C-4123-BA70-CDB8C2436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50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673D77-4D12-60F0-65E2-4A4D3A96D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299DB-F377-9CF6-07ED-89D265401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77F49-A293-BB82-4E23-FCA218545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6FAC69-528B-4B2C-9936-A0200406B491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00F36-B04F-F1F8-2F08-8C3411EE1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99EAD-CE80-A97E-E615-91F3E5533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95009-F63C-4123-BA70-CDB8C2436F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86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E581B-26A6-88B8-84C9-064F4916C9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Stage 1: Data Fundamentals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2BD1F4-16D6-2D4F-C997-2F975D4FA5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concepts behind DuckDB, Great Expectations, and DVC</a:t>
            </a:r>
          </a:p>
        </p:txBody>
      </p:sp>
    </p:spTree>
    <p:extLst>
      <p:ext uri="{BB962C8B-B14F-4D97-AF65-F5344CB8AC3E}">
        <p14:creationId xmlns:p14="http://schemas.microsoft.com/office/powerpoint/2010/main" val="40995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2474-7093-8AEE-3B3C-752D4A1C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this stage 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EA3BA-1D58-670F-3709-BD9FF2A64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dirty="0"/>
              <a:t>This is the first hands-on stage of the course</a:t>
            </a:r>
          </a:p>
          <a:p>
            <a:pPr lvl="1"/>
            <a:r>
              <a:rPr lang="en-US" dirty="0"/>
              <a:t>No Docker, no containers, no cloud account yet</a:t>
            </a:r>
          </a:p>
          <a:p>
            <a:pPr lvl="1"/>
            <a:r>
              <a:rPr lang="en-US" dirty="0"/>
              <a:t>Everything installs with a single pip command</a:t>
            </a:r>
          </a:p>
          <a:p>
            <a:pPr/>
            <a:r>
              <a:rPr lang="en-US" dirty="0"/>
              <a:t>The point of this stage: get comfortable with data itself,</a:t>
            </a:r>
          </a:p>
          <a:p>
            <a:pPr lvl="1"/>
            <a:r>
              <a:rPr lang="en-US" dirty="0"/>
              <a:t>before any infrastructure gets involved</a:t>
            </a:r>
          </a:p>
          <a:p>
            <a:pPr/>
            <a:r>
              <a:rPr lang="en-US" dirty="0"/>
              <a:t>Hands-on practice happens in the Lab Guide (DOCX) -</a:t>
            </a:r>
          </a:p>
          <a:p>
            <a:pPr lvl="1"/>
            <a:r>
              <a:rPr lang="en-US" dirty="0"/>
              <a:t>these slides are concept only</a:t>
            </a:r>
          </a:p>
        </p:txBody>
      </p:sp>
    </p:spTree>
    <p:extLst>
      <p:ext uri="{BB962C8B-B14F-4D97-AF65-F5344CB8AC3E}">
        <p14:creationId xmlns:p14="http://schemas.microsoft.com/office/powerpoint/2010/main" val="3707496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2474-7093-8AEE-3B3C-752D4A1C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dataset, three lenses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EA3BA-1D58-670F-3709-BD9FF2A64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dirty="0"/>
              <a:t>All three exercises in this stage use the same toy dataset</a:t>
            </a:r>
          </a:p>
          <a:p>
            <a:pPr lvl="1"/>
            <a:r>
              <a:rPr lang="en-US" dirty="0"/>
              <a:t>A small, made-up table of retail orders</a:t>
            </a:r>
          </a:p>
          <a:p>
            <a:pPr/>
            <a:r>
              <a:rPr lang="en-US" dirty="0"/>
              <a:t>Same data throughout means each new tool only</a:t>
            </a:r>
          </a:p>
          <a:p>
            <a:pPr lvl="1"/>
            <a:r>
              <a:rPr lang="en-US" dirty="0"/>
              <a:t>adds one new idea, not new data to reason about</a:t>
            </a:r>
          </a:p>
          <a:p>
            <a:pPr/>
            <a:r>
              <a:rPr lang="en-US" dirty="0"/>
              <a:t>The three lenses:</a:t>
            </a:r>
          </a:p>
          <a:p>
            <a:pPr lvl="1"/>
            <a:r>
              <a:rPr lang="en-US" dirty="0"/>
              <a:t>Query it - DuckDB</a:t>
            </a:r>
          </a:p>
          <a:p>
            <a:pPr lvl="1"/>
            <a:r>
              <a:rPr lang="en-US" dirty="0"/>
              <a:t>Validate it - Great Expectations</a:t>
            </a:r>
          </a:p>
          <a:p>
            <a:pPr lvl="1"/>
            <a:r>
              <a:rPr lang="en-US" dirty="0"/>
              <a:t>Version it - DVC</a:t>
            </a:r>
          </a:p>
        </p:txBody>
      </p:sp>
    </p:spTree>
    <p:extLst>
      <p:ext uri="{BB962C8B-B14F-4D97-AF65-F5344CB8AC3E}">
        <p14:creationId xmlns:p14="http://schemas.microsoft.com/office/powerpoint/2010/main" val="3707496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2474-7093-8AEE-3B3C-752D4A1C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DuckDB - query files directly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EA3BA-1D58-670F-3709-BD9FF2A64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dirty="0"/>
              <a:t>The problem it solves:</a:t>
            </a:r>
          </a:p>
          <a:p>
            <a:pPr lvl="1"/>
            <a:r>
              <a:rPr lang="en-US" dirty="0"/>
              <a:t>Running SQL against a file usually means loading it into a database first</a:t>
            </a:r>
          </a:p>
          <a:p>
            <a:pPr/>
            <a:r>
              <a:rPr lang="en-US" dirty="0"/>
              <a:t>DuckDB skips that step entirely</a:t>
            </a:r>
          </a:p>
          <a:p>
            <a:pPr lvl="1"/>
            <a:r>
              <a:rPr lang="en-US" dirty="0"/>
              <a:t>Point it at a Parquet file, write SQL, get an answer</a:t>
            </a:r>
          </a:p>
          <a:p>
            <a:pPr lvl="1"/>
            <a:r>
              <a:rPr lang="en-US" dirty="0"/>
              <a:t>No server to install or manage</a:t>
            </a:r>
          </a:p>
          <a:p>
            <a:pPr/>
            <a:r>
              <a:rPr lang="en-US" dirty="0"/>
              <a:t>Why it matters for this course:</a:t>
            </a:r>
          </a:p>
          <a:p>
            <a:pPr lvl="1"/>
            <a:r>
              <a:rPr lang="en-US" dirty="0"/>
              <a:t>This is the same pattern you will use later against real data-lake files</a:t>
            </a:r>
          </a:p>
          <a:p>
            <a:pPr/>
            <a:r>
              <a:rPr lang="en-US" dirty="0"/>
              <a:t>Think of it as: a database engine that lives inside your script</a:t>
            </a:r>
          </a:p>
        </p:txBody>
      </p:sp>
    </p:spTree>
    <p:extLst>
      <p:ext uri="{BB962C8B-B14F-4D97-AF65-F5344CB8AC3E}">
        <p14:creationId xmlns:p14="http://schemas.microsoft.com/office/powerpoint/2010/main" val="370749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2474-7093-8AEE-3B3C-752D4A1C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Great Expectations - test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EA3BA-1D58-670F-3709-BD9FF2A64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dirty="0"/>
              <a:t>The problem it solves:</a:t>
            </a:r>
          </a:p>
          <a:p>
            <a:pPr lvl="1"/>
            <a:r>
              <a:rPr lang="en-US" dirty="0"/>
              <a:t>Bad data (nulls, duplicates, out-of-range values) breaks pipelines silently</a:t>
            </a:r>
          </a:p>
          <a:p>
            <a:pPr/>
            <a:r>
              <a:rPr lang="en-US" dirty="0"/>
              <a:t>The core idea:</a:t>
            </a:r>
          </a:p>
          <a:p>
            <a:pPr lvl="1"/>
            <a:r>
              <a:rPr lang="en-US" dirty="0"/>
              <a:t>Write down rules about what “good data” looks like</a:t>
            </a:r>
          </a:p>
          <a:p>
            <a:pPr lvl="1"/>
            <a:r>
              <a:rPr lang="en-US" dirty="0"/>
              <a:t>Run those rules against a dataset automatically</a:t>
            </a:r>
          </a:p>
          <a:p>
            <a:pPr lvl="1"/>
            <a:r>
              <a:rPr lang="en-US" dirty="0"/>
              <a:t>Get a clear pass/fail report, not a surprise later</a:t>
            </a:r>
          </a:p>
          <a:p>
            <a:pPr/>
            <a:r>
              <a:rPr lang="en-US" dirty="0"/>
              <a:t>Think of it as: unit tests, but for data instead of code</a:t>
            </a:r>
          </a:p>
          <a:p>
            <a:pPr/>
            <a:r>
              <a:rPr lang="en-US" dirty="0"/>
              <a:t>A failed check is useful information, not an error in your script</a:t>
            </a:r>
          </a:p>
        </p:txBody>
      </p:sp>
    </p:spTree>
    <p:extLst>
      <p:ext uri="{BB962C8B-B14F-4D97-AF65-F5344CB8AC3E}">
        <p14:creationId xmlns:p14="http://schemas.microsoft.com/office/powerpoint/2010/main" val="3707496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2474-7093-8AEE-3B3C-752D4A1C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DVC - version your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EA3BA-1D58-670F-3709-BD9FF2A64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dirty="0"/>
              <a:t>The problem it solves:</a:t>
            </a:r>
          </a:p>
          <a:p>
            <a:pPr lvl="1"/>
            <a:r>
              <a:rPr lang="en-US" dirty="0"/>
              <a:t>Git tracks code changes well, but breaks down on large data files</a:t>
            </a:r>
          </a:p>
          <a:p>
            <a:pPr/>
            <a:r>
              <a:rPr lang="en-US" dirty="0"/>
              <a:t>The core idea:</a:t>
            </a:r>
          </a:p>
          <a:p>
            <a:pPr lvl="1"/>
            <a:r>
              <a:rPr lang="en-US" dirty="0"/>
              <a:t>Git stores a small pointer file</a:t>
            </a:r>
          </a:p>
          <a:p>
            <a:pPr lvl="1"/>
            <a:r>
              <a:rPr lang="en-US" dirty="0"/>
              <a:t>DVC stores the actual data behind that pointer</a:t>
            </a:r>
          </a:p>
          <a:p>
            <a:pPr lvl="1"/>
            <a:r>
              <a:rPr lang="en-US" dirty="0"/>
              <a:t>Together, you get: history, diffs, and rollback - for data</a:t>
            </a:r>
          </a:p>
          <a:p>
            <a:pPr/>
            <a:r>
              <a:rPr lang="en-US" dirty="0"/>
              <a:t>Think of it as: Git’s workflow, applied to datasets instead of code</a:t>
            </a:r>
          </a:p>
          <a:p>
            <a:pPr/>
            <a:r>
              <a:rPr lang="en-US" dirty="0"/>
              <a:t>Why it matters: “which data trained this model” becomes answerable</a:t>
            </a:r>
          </a:p>
        </p:txBody>
      </p:sp>
    </p:spTree>
    <p:extLst>
      <p:ext uri="{BB962C8B-B14F-4D97-AF65-F5344CB8AC3E}">
        <p14:creationId xmlns:p14="http://schemas.microsoft.com/office/powerpoint/2010/main" val="3707496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A2474-7093-8AEE-3B3C-752D4A1CE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this connects, and what's next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EA3BA-1D58-670F-3709-BD9FF2A64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en-US" dirty="0"/>
              <a:t>The natural order: query it, validate it, version it</a:t>
            </a:r>
          </a:p>
          <a:p>
            <a:pPr lvl="1"/>
            <a:r>
              <a:rPr lang="en-US" dirty="0"/>
              <a:t>You need to see the data before you can judge its quality</a:t>
            </a:r>
          </a:p>
          <a:p>
            <a:pPr lvl="1"/>
            <a:r>
              <a:rPr lang="en-US" dirty="0"/>
              <a:t>You need to know it is good before it is worth keeping a version of</a:t>
            </a:r>
          </a:p>
          <a:p>
            <a:pPr/>
            <a:r>
              <a:rPr lang="en-US" dirty="0"/>
              <a:t>Stage 2 introduces the first container: PostgreSQL in Docker</a:t>
            </a:r>
          </a:p>
          <a:p>
            <a:pPr lvl="1"/>
            <a:r>
              <a:rPr lang="en-US" dirty="0"/>
              <a:t>Deliberately one simple container</a:t>
            </a:r>
          </a:p>
          <a:p>
            <a:pPr lvl="1"/>
            <a:r>
              <a:rPr lang="en-US" dirty="0"/>
              <a:t>Stage 3 is where multiple cloud-shaped services show up at once</a:t>
            </a:r>
          </a:p>
          <a:p>
            <a:pPr/>
            <a:r>
              <a:rPr lang="en-US" dirty="0"/>
              <a:t>Now: open the Lab Guide (DOCX) and start Setup, Step 1</a:t>
            </a:r>
          </a:p>
        </p:txBody>
      </p:sp>
    </p:spTree>
    <p:extLst>
      <p:ext uri="{BB962C8B-B14F-4D97-AF65-F5344CB8AC3E}">
        <p14:creationId xmlns:p14="http://schemas.microsoft.com/office/powerpoint/2010/main" val="3707496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Title</vt:lpstr>
      <vt:lpstr>Header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Sridhar Srinivasan</dc:creator>
  <cp:lastModifiedBy>Sridhar Srinivasan</cp:lastModifiedBy>
  <cp:revision>1</cp:revision>
  <dcterms:created xsi:type="dcterms:W3CDTF">2026-08-26T04:40:40Z</dcterms:created>
  <dcterms:modified xsi:type="dcterms:W3CDTF">2026-08-26T04:41:28Z</dcterms:modified>
</cp:coreProperties>
</file>